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" cy="3474720"/>
          </a:xfrm>
          <a:prstGeom prst="rect">
            <a:avLst/>
          </a:prstGeom>
          <a:solidFill>
            <a:srgbClr val="F2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MACHINE LEARNING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9966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19375F"/>
                </a:solidFill>
                <a:latin typeface="Aptos"/>
              </a:defRPr>
            </a:pPr>
            <a:r>
              <a:t>Traffic Flow Prediction</a:t>
            </a:r>
            <a:br/>
            <a:r>
              <a:t>in Urban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C6772"/>
                </a:solidFill>
                <a:latin typeface="Aptos"/>
              </a:defRPr>
            </a:pPr>
            <a:r>
              <a:t>Predicting congestion levels from road, day and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1874519" cy="347472"/>
          </a:xfrm>
          <a:prstGeom prst="round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UE24CS352A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3840480"/>
            <a:ext cx="1965960" cy="347472"/>
          </a:xfrm>
          <a:prstGeom prst="roundRect">
            <a:avLst/>
          </a:prstGeom>
          <a:solidFill>
            <a:srgbClr val="35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3840480"/>
            <a:ext cx="1325880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657600"/>
            <a:ext cx="2880360" cy="11430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904487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C6772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2519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375F"/>
                </a:solidFill>
                <a:latin typeface="Aptos"/>
              </a:defRPr>
            </a:pPr>
            <a:r>
              <a:t>PRIYANKA B M — PES1UG24AM207</a:t>
            </a:r>
            <a:br/>
            <a:r>
              <a:t>PRASHANT DEVENDRA NAIK — PES1UG24AM199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80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772"/>
                </a:solidFill>
                <a:latin typeface="Aptos"/>
              </a:defRPr>
            </a:pPr>
            <a:r>
              <a:t>Reference methodology adapted from Huang &amp; Zhou (2021)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Problem Statement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375F"/>
                </a:solidFill>
                <a:latin typeface="Aptos"/>
              </a:defRPr>
            </a:pPr>
            <a:r>
              <a:t>Urban traffic conditions change</a:t>
            </a:r>
            <a:br/>
            <a:r>
              <a:t>with road, day and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D34"/>
                </a:solidFill>
                <a:latin typeface="Aptos"/>
              </a:defRPr>
            </a:pPr>
            <a:r>
              <a:t>• Traffic congestion varies across different roads and time periods.</a:t>
            </a:r>
          </a:p>
          <a:p>
            <a:pPr>
              <a:spcAft>
                <a:spcPts val="700"/>
              </a:spcAft>
              <a:defRPr sz="1400">
                <a:solidFill>
                  <a:srgbClr val="262D34"/>
                </a:solidFill>
                <a:latin typeface="Aptos"/>
              </a:defRPr>
            </a:pPr>
            <a:r>
              <a:t>• A machine learning model can learn patterns from historical traffic observations.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9375F"/>
                </a:solidFill>
                <a:latin typeface="Aptos"/>
              </a:defRPr>
            </a:pPr>
            <a:r>
              <a:t>Predict congestion level 0–4 from road + day + hour.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120640" cy="4526280"/>
          </a:xfrm>
          <a:prstGeom prst="roundRect">
            <a:avLst/>
          </a:prstGeom>
          <a:solidFill>
            <a:srgbClr val="E2F4F0"/>
          </a:solidFill>
          <a:ln>
            <a:solidFill>
              <a:srgbClr val="E2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371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INPUT → MODEL →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920240"/>
            <a:ext cx="1371600" cy="347472"/>
          </a:xfrm>
          <a:prstGeom prst="roundRect">
            <a:avLst/>
          </a:prstGeom>
          <a:solidFill>
            <a:srgbClr val="35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920240"/>
            <a:ext cx="1371600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920240"/>
            <a:ext cx="1371600" cy="347472"/>
          </a:xfrm>
          <a:prstGeom prst="roundRect">
            <a:avLst/>
          </a:prstGeom>
          <a:solidFill>
            <a:srgbClr val="F2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514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C677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2926080"/>
            <a:ext cx="2194560" cy="347472"/>
          </a:xfrm>
          <a:prstGeom prst="round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MLP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C677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977639"/>
            <a:ext cx="2560320" cy="347472"/>
          </a:xfrm>
          <a:prstGeom prst="roundRect">
            <a:avLst/>
          </a:prstGeom>
          <a:solidFill>
            <a:srgbClr val="E27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CONGESTION 0–4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6772"/>
                </a:solidFill>
                <a:latin typeface="Aptos"/>
              </a:defRPr>
            </a:pPr>
            <a:r>
              <a:t>5-class classification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07492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5C6772"/>
                </a:solidFill>
                <a:latin typeface="Aptos"/>
              </a:defRPr>
            </a:pPr>
            <a:r>
              <a:t>Why this matters: road conditions and traffic patterns vary over time. The model learns these relationships from historical observations and maps them to one of five congestion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Dataset &amp;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161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56FB1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selected route queries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0515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2161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298E89"/>
                </a:solidFill>
                <a:latin typeface="Aptos"/>
              </a:defRPr>
            </a:pPr>
            <a:r>
              <a:t>1,071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traffic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0515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161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2B541"/>
                </a:solidFill>
                <a:latin typeface="Aptos"/>
              </a:defRPr>
            </a:pPr>
            <a:r>
              <a:t>1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collection period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05156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2161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E2705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12527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congestion classes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2316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RAW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90672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D34"/>
                </a:solidFill>
                <a:latin typeface="Aptos"/>
              </a:defRPr>
            </a:pPr>
            <a:r>
              <a:t>• way — road / route identifier</a:t>
            </a:r>
          </a:p>
          <a:p>
            <a:pPr>
              <a:spcAft>
                <a:spcPts val="700"/>
              </a:spcAft>
              <a:defRPr sz="1400">
                <a:solidFill>
                  <a:srgbClr val="262D34"/>
                </a:solidFill>
                <a:latin typeface="Aptos"/>
              </a:defRPr>
            </a:pPr>
            <a:r>
              <a:t>• distance(meters) — route distance</a:t>
            </a:r>
          </a:p>
          <a:p>
            <a:pPr>
              <a:spcAft>
                <a:spcPts val="700"/>
              </a:spcAft>
              <a:defRPr sz="1400">
                <a:solidFill>
                  <a:srgbClr val="262D34"/>
                </a:solidFill>
                <a:latin typeface="Aptos"/>
              </a:defRPr>
            </a:pPr>
            <a:r>
              <a:t>• duration(minutes) — travel time</a:t>
            </a:r>
          </a:p>
          <a:p>
            <a:pPr>
              <a:spcAft>
                <a:spcPts val="700"/>
              </a:spcAft>
              <a:defRPr sz="1400">
                <a:solidFill>
                  <a:srgbClr val="262D34"/>
                </a:solidFill>
                <a:latin typeface="Aptos"/>
              </a:defRPr>
            </a:pPr>
            <a:r>
              <a:t>• datetime_utc — traffic observation timestamp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23160"/>
            <a:ext cx="5303520" cy="324612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DATA SOURCE &amp;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54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75F"/>
                </a:solidFill>
                <a:latin typeface="Aptos"/>
              </a:defRPr>
            </a:pPr>
            <a:r>
              <a:t>Outscraper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9476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D34"/>
                </a:solidFill>
                <a:latin typeface="Aptos"/>
              </a:defRPr>
            </a:pPr>
            <a:r>
              <a:t>New traffic data was collected for selected routes around Central Park, New York City, following the reference paper's general methodology.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292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705E"/>
                </a:solidFill>
                <a:latin typeface="Aptos"/>
              </a:defRPr>
            </a:pPr>
            <a:r>
              <a:t>Newly collected dataset — not the authors' original dataset.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303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Each observation links a route and timestamp with measured distance and duration, providing the information needed to derive speed and congestion.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438912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12344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75F"/>
                </a:solidFill>
                <a:latin typeface="Aptos"/>
              </a:defRPr>
            </a:pPr>
            <a:r>
              <a:t>Timestamp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UTC → New York local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234440"/>
            <a:ext cx="438912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12344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75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6420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day_of_week + hour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1234440"/>
            <a:ext cx="438912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12344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75F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66420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distance / duration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26296" y="10515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81744" y="1234440"/>
            <a:ext cx="438912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9528" y="12344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75F"/>
                </a:solidFill>
                <a:latin typeface="Aptos"/>
              </a:defRPr>
            </a:pPr>
            <a: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166420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772"/>
                </a:solidFill>
                <a:latin typeface="Aptos"/>
              </a:defRPr>
            </a:pPr>
            <a:r>
              <a:t>5 congestion levels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43200"/>
            <a:ext cx="5303520" cy="25146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SPEED FEATURE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478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375F"/>
                </a:solidFill>
                <a:latin typeface="Aptos"/>
              </a:defRPr>
            </a:pPr>
            <a:r>
              <a:t>Speed (km/h) 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375F"/>
                </a:solidFill>
                <a:latin typeface="Aptos"/>
              </a:defRPr>
            </a:pPr>
            <a:r>
              <a:t>Distance (km) ÷ Time (hours)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772"/>
                </a:solidFill>
                <a:latin typeface="Aptos"/>
              </a:defRPr>
            </a:pPr>
            <a:r>
              <a:t>Calculated from raw distance and duration.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743200"/>
            <a:ext cx="5303520" cy="2514600"/>
          </a:xfrm>
          <a:prstGeom prst="roundRect">
            <a:avLst/>
          </a:prstGeom>
          <a:solidFill>
            <a:srgbClr val="E2F4F0"/>
          </a:solidFill>
          <a:ln>
            <a:solidFill>
              <a:srgbClr val="E2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CONGESTION LABELLING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20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75F"/>
                </a:solidFill>
                <a:latin typeface="Aptos"/>
              </a:defRPr>
            </a:pPr>
            <a:r>
              <a:t>0  Very Low     1  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31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D34"/>
                </a:solidFill>
                <a:latin typeface="Aptos"/>
              </a:defRPr>
            </a:pPr>
            <a:r>
              <a:t>2  Moderate     3 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43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D34"/>
                </a:solidFill>
                <a:latin typeface="Aptos"/>
              </a:defRPr>
            </a:pPr>
            <a:r>
              <a:t>4  Very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8006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705E"/>
                </a:solidFill>
                <a:latin typeface="Aptos"/>
              </a:defRPr>
            </a:pPr>
            <a:r>
              <a:t>Quantile-based adaptation for this dataset.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1324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Why preprocess? Time is converted to local time so day/hour represent the actual New York traffic period. Speed provides the basis for congestion labelling.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41324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Why quantiles? The newly collected data has a different speed distribution, so observations are divided into five approximately equal 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Machine Learning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47548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325880"/>
            <a:ext cx="1234440" cy="347472"/>
          </a:xfrm>
          <a:prstGeom prst="roundRect">
            <a:avLst/>
          </a:prstGeom>
          <a:solidFill>
            <a:srgbClr val="356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375F"/>
                </a:solidFill>
                <a:latin typeface="Aptos"/>
              </a:defRPr>
            </a:pPr>
            <a:r>
              <a:t>1 hidden layer</a:t>
            </a:r>
            <a:br/>
            <a:r>
              <a:t>10 neurons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886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Numerical road representation</a:t>
            </a:r>
          </a:p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Feature scaling</a:t>
            </a:r>
          </a:p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Logistic activation</a:t>
            </a:r>
          </a:p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80/20 stratified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705E"/>
                </a:solidFill>
                <a:latin typeface="Aptos"/>
              </a:defRPr>
            </a:pPr>
            <a:r>
              <a:t>Test accuracy: 39.07%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051560"/>
            <a:ext cx="5989320" cy="4983480"/>
          </a:xfrm>
          <a:prstGeom prst="roundRect">
            <a:avLst/>
          </a:prstGeom>
          <a:solidFill>
            <a:srgbClr val="E2F4F0"/>
          </a:solidFill>
          <a:ln>
            <a:solidFill>
              <a:srgbClr val="E2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1325880"/>
            <a:ext cx="1325880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IMPROVED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1051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375F"/>
                </a:solidFill>
                <a:latin typeface="Aptos"/>
              </a:defRPr>
            </a:pPr>
            <a:r>
              <a:t>Road + day one-hot encoded</a:t>
            </a:r>
            <a:br/>
            <a:r>
              <a:t>Hour standardized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5176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Two hidden layers: 20 → 10 neurons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Logistic activation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LBFGS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C6772"/>
                </a:solidFill>
                <a:latin typeface="Aptos"/>
              </a:defRPr>
            </a:pPr>
            <a:r>
              <a:t>Recorded test accuracy: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8E89"/>
                </a:solidFill>
                <a:latin typeface="Aptos"/>
              </a:defRPr>
            </a:pPr>
            <a:r>
              <a:t>56.74%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166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772"/>
                </a:solidFill>
                <a:latin typeface="Aptos"/>
              </a:defRPr>
            </a:pPr>
            <a:r>
              <a:t>Feature representation is the key improvement.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40680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MLP theory: hidden neurons learn combinations of input features, while the output layer assigns the observation to a congestion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440680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One-hot encoding is used because road and day are categorical variables; it avoids treating category IDs as ordered numerical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Training &amp;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3949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TRAINING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80% training / 20% testing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Stratified split preserves class proportions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Baseline and improved MLP models evaluated on the same test split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Evaluation metric: test-set classification accuracy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Confusion matrix used to inspect class-wise predictions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75F"/>
                </a:solidFill>
                <a:latin typeface="Aptos"/>
              </a:defRPr>
            </a:pPr>
            <a:r>
              <a:t>Saved model: traffic_congestion_model.joblib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212080" cy="48006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WHAT THE RESULTS SHOW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7451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375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56FB1"/>
                </a:solidFill>
                <a:latin typeface="Aptos"/>
              </a:defRPr>
            </a:pPr>
            <a:r>
              <a:t>39.07% test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63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9375F"/>
                </a:solidFill>
                <a:latin typeface="Aptos"/>
              </a:defRPr>
            </a:pPr>
            <a:r>
              <a:t>Improved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98E89"/>
                </a:solidFill>
                <a:latin typeface="Aptos"/>
              </a:defRPr>
            </a:pPr>
            <a:r>
              <a:t>56.74% test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9375F"/>
                </a:solidFill>
                <a:latin typeface="Aptos"/>
              </a:defRPr>
            </a:pPr>
            <a:r>
              <a:t>Improvement = 17.67 percentage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The test set is kept unseen during training, so accuracy measures how well the learned model generalizes to new observations.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23036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A confusion matrix gives class-wise detail: diagonal cells are correct predictions, while off-diagonal cells show where classes are confused.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553212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ACCURACY COMPARISON</a:t>
            </a:r>
          </a:p>
        </p:txBody>
      </p:sp>
      <p:pic>
        <p:nvPicPr>
          <p:cNvPr id="7" name="Picture 6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27632"/>
            <a:ext cx="502920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9375F"/>
                </a:solidFill>
                <a:latin typeface="Aptos"/>
              </a:defRPr>
            </a:pPr>
            <a:r>
              <a:t>Improvement: +17.67 percentage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960120"/>
            <a:ext cx="5623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07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CONFUSION MATRIX — IMPROVED MODEL</a:t>
            </a:r>
          </a:p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45920"/>
            <a:ext cx="470916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5715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772"/>
                </a:solidFill>
                <a:latin typeface="Aptos"/>
              </a:defRPr>
            </a:pPr>
            <a:r>
              <a:t>Diagonal cells represent correct classifications.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1616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19375F"/>
                </a:solidFill>
                <a:latin typeface="Aptos"/>
              </a:defRPr>
            </a:pPr>
            <a:r>
              <a:t>The improved model is 17.67 percentage points higher than the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91616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19375F"/>
                </a:solidFill>
                <a:latin typeface="Aptos"/>
              </a:defRPr>
            </a:pPr>
            <a:r>
              <a:t>The diagonal counts show correct predictions for congestion classes 0–4.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9375F"/>
                </a:solidFill>
                <a:latin typeface="Aptos"/>
              </a:defRPr>
            </a:pPr>
            <a:r>
              <a:t>Live Demo,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C677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703320" cy="4800600"/>
          </a:xfrm>
          <a:prstGeom prst="roundRect">
            <a:avLst/>
          </a:prstGeom>
          <a:solidFill>
            <a:srgbClr val="E2F0FA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F"/>
                </a:solidFill>
                <a:latin typeface="Aptos"/>
              </a:defRPr>
            </a:pPr>
            <a:r>
              <a:t>Example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2D34"/>
                </a:solidFill>
                <a:latin typeface="Aptos"/>
              </a:defRPr>
            </a:pPr>
            <a:r>
              <a:t>Road: 5th Ave and 86th St Transverse</a:t>
            </a:r>
            <a:br/>
            <a:r>
              <a:t>Day: Wednesday (2)</a:t>
            </a:r>
            <a:br/>
            <a:r>
              <a:t>Hour: 14:00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75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886200"/>
            <a:ext cx="2011680" cy="347472"/>
          </a:xfrm>
          <a:prstGeom prst="roundRect">
            <a:avLst/>
          </a:prstGeom>
          <a:solidFill>
            <a:srgbClr val="29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LEVEL 1 — 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4840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772"/>
                </a:solidFill>
                <a:latin typeface="Aptos"/>
              </a:defRPr>
            </a:pPr>
            <a:r>
              <a:t>The saved Joblib model is loaded by predict.py and produces the class from new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051560"/>
            <a:ext cx="32461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325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705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83080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Smaller dataset than the reference study.</a:t>
            </a:r>
          </a:p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Short collection period.</a:t>
            </a:r>
          </a:p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Sampled observations rather than continuous monitoring.</a:t>
            </a:r>
          </a:p>
          <a:p>
            <a:pPr>
              <a:spcAft>
                <a:spcPts val="700"/>
              </a:spcAft>
              <a:defRPr sz="1200">
                <a:solidFill>
                  <a:srgbClr val="262D34"/>
                </a:solidFill>
                <a:latin typeface="Aptos"/>
              </a:defRPr>
            </a:pPr>
            <a:r>
              <a:t>• Quantile-based labels differ from the paper's original labelling approach.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800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705E"/>
                </a:solidFill>
                <a:latin typeface="Aptos"/>
              </a:defRPr>
            </a:pPr>
            <a:r>
              <a:t>Accuracy is not directly comparable to the paper's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051560"/>
            <a:ext cx="3566160" cy="4800600"/>
          </a:xfrm>
          <a:prstGeom prst="roundRect">
            <a:avLst/>
          </a:prstGeom>
          <a:solidFill>
            <a:srgbClr val="E2F4F0"/>
          </a:solidFill>
          <a:ln>
            <a:solidFill>
              <a:srgbClr val="E2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E89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2788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Collect more historical traffic data.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Increase temporal coverage.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Add richer traffic-related features.</a:t>
            </a:r>
          </a:p>
          <a:p>
            <a:pPr>
              <a:spcAft>
                <a:spcPts val="700"/>
              </a:spcAft>
              <a:defRPr sz="1300">
                <a:solidFill>
                  <a:srgbClr val="262D34"/>
                </a:solidFill>
                <a:latin typeface="Aptos"/>
              </a:defRPr>
            </a:pPr>
            <a:r>
              <a:t>• Explore sequence models such as LSTM.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72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375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772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80760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6772"/>
                </a:solidFill>
                <a:latin typeface="Aptos"/>
              </a:defRPr>
            </a:pPr>
            <a:r>
              <a:t>Reference: Huang, Y. &amp; Zhou, G. (2021), Machine Learning for Traffic Flow Prediction in Urban 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2971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0">
                <a:solidFill>
                  <a:srgbClr val="5C6772"/>
                </a:solidFill>
                <a:latin typeface="Aptos"/>
              </a:defRPr>
            </a:pPr>
            <a:r>
              <a:t>Demo logic: road + day + hour → saved MLP → predicted congestion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